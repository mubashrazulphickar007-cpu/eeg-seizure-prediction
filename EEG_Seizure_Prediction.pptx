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Welcome! This study evaluates EEG seizure prediction across three datasets, two preprocessing pipelines, three regularisation types, and two imbalance handling strategies. All code is in the accompanying Jupyter notebook.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028090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0584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EEG Seizure Prediction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A8D8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Generalisation Study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370332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A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Analysis Report  •  June 2026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416052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Datasets: CHB-MIT • UCI Epileptic Seizure • TUH EEG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Models: Logistic Regression with L1 / L2 / ElasticNet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Pipelines: Reduction-First (A) vs Extraction-First (B)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1005840"/>
            <a:ext cx="4160520" cy="841248"/>
          </a:xfrm>
          <a:prstGeom prst="roundRect">
            <a:avLst>
              <a:gd name="adj" fmla="val 8696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21208" y="1115568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97280" y="109728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97280" y="141732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Goals, tools, and research questions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11480" y="1993392"/>
            <a:ext cx="4160520" cy="841248"/>
          </a:xfrm>
          <a:prstGeom prst="roundRect">
            <a:avLst>
              <a:gd name="adj" fmla="val 8696"/>
            </a:avLst>
          </a:prstGeom>
          <a:solidFill>
            <a:srgbClr val="EAF4F6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21208" y="2103120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97280" y="208483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97280" y="240487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CHB-MIT, UCI, TUH — characteristics &amp; simulation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11480" y="2980944"/>
            <a:ext cx="4160520" cy="841248"/>
          </a:xfrm>
          <a:prstGeom prst="roundRect">
            <a:avLst>
              <a:gd name="adj" fmla="val 8696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21208" y="3090672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97280" y="3072384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97280" y="3392424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A vs Pipeline B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11480" y="3968496"/>
            <a:ext cx="4160520" cy="841248"/>
          </a:xfrm>
          <a:prstGeom prst="roundRect">
            <a:avLst>
              <a:gd name="adj" fmla="val 8696"/>
            </a:avLst>
          </a:prstGeom>
          <a:solidFill>
            <a:srgbClr val="EAF4F6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21208" y="4078224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97280" y="4059936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Model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97280" y="4379976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&amp; evaluation metrics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846320" y="1005840"/>
            <a:ext cx="4160520" cy="841248"/>
          </a:xfrm>
          <a:prstGeom prst="roundRect">
            <a:avLst>
              <a:gd name="adj" fmla="val 8696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956048" y="1115568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532120" y="109728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Overfitting Study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532120" y="141732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Bias-variance tradeoff &amp; learning curves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846320" y="1993392"/>
            <a:ext cx="4160520" cy="841248"/>
          </a:xfrm>
          <a:prstGeom prst="roundRect">
            <a:avLst>
              <a:gd name="adj" fmla="val 8696"/>
            </a:avLst>
          </a:prstGeom>
          <a:solidFill>
            <a:srgbClr val="EAF4F6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956048" y="2103120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532120" y="208483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Regularisation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532120" y="240487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/ L2 / ElasticNet — sparsity &amp; stability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846320" y="2980944"/>
            <a:ext cx="4160520" cy="841248"/>
          </a:xfrm>
          <a:prstGeom prst="roundRect">
            <a:avLst>
              <a:gd name="adj" fmla="val 8696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956048" y="3090672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5532120" y="3072384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Imbalance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532120" y="3392424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 vs Class Weighting on TUH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846320" y="3968496"/>
            <a:ext cx="4160520" cy="841248"/>
          </a:xfrm>
          <a:prstGeom prst="roundRect">
            <a:avLst>
              <a:gd name="adj" fmla="val 8696"/>
            </a:avLst>
          </a:prstGeom>
          <a:solidFill>
            <a:srgbClr val="EAF4F6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956048" y="4078224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5532120" y="4059936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532120" y="4379976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 &amp; next steps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960120"/>
            <a:ext cx="3931920" cy="3749040"/>
          </a:xfrm>
          <a:prstGeom prst="roundRect">
            <a:avLst>
              <a:gd name="adj" fmla="val 1951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097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Goal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" y="150876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how preprocessing order, regularisation type, and class-imbalance handling affect seizure detection generalisation across three EEG datasets.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94360" y="189280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94360" y="227685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research questions: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94360" y="2660904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Q1: Does Pipeline A vs B order matter?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304495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Q2: Which regularisation generalises best?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94360" y="342900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Q3: Is ElasticNet always superior?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4360" y="381304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Q4: How do imbalance strategies interact with regularisation?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0" y="960120"/>
            <a:ext cx="4160520" cy="3749040"/>
          </a:xfrm>
          <a:prstGeom prst="roundRect">
            <a:avLst>
              <a:gd name="adj" fmla="val 1951"/>
            </a:avLst>
          </a:prstGeom>
          <a:solidFill>
            <a:srgbClr val="EAF4F6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09160" y="109728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709160" y="1536192"/>
            <a:ext cx="384048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800600" y="158191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800600" y="176479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Regression, PCA, FastICA, SelectKBest, StratifiedKFold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709160" y="2066544"/>
            <a:ext cx="384048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00600" y="211226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imbalanced-learn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800600" y="229514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 — synthetic minority oversampling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709160" y="2596896"/>
            <a:ext cx="384048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800600" y="264261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scipy.ndimage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800600" y="282549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gaussian_filter1d for EEG noise removal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709160" y="3127248"/>
            <a:ext cx="384048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800600" y="317296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/ seaborn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800600" y="335584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figures produced across the study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709160" y="3657600"/>
            <a:ext cx="384048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800600" y="37033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/ Pandas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800600" y="388620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manipulation, reproducible seeding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709160" y="4187952"/>
            <a:ext cx="384048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800600" y="423367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API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800600" y="441655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real dataset download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960120"/>
            <a:ext cx="2743200" cy="3749040"/>
          </a:xfrm>
          <a:prstGeom prst="roundRect">
            <a:avLst>
              <a:gd name="adj" fmla="val 2667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960120"/>
            <a:ext cx="2743200" cy="502920"/>
          </a:xfrm>
          <a:prstGeom prst="rect">
            <a:avLst/>
          </a:prstGeom>
          <a:solidFill>
            <a:srgbClr val="E74C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98755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CHB-MIT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Scalp EEG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94360" y="1600200"/>
            <a:ext cx="237744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858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783080" y="1627632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100,000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94360" y="2194560"/>
            <a:ext cx="237744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85800" y="224028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783080" y="2221992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178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94360" y="2788920"/>
            <a:ext cx="237744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5800" y="283464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Seizure Rate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783080" y="2816352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~5%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342900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patients, 916 hrs EEG. Severe class imbalance. Downloads via PhysioNet or Kaggle. Falls back to simulation preserving noise + ictal theta burst.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337560" y="960120"/>
            <a:ext cx="2743200" cy="3749040"/>
          </a:xfrm>
          <a:prstGeom prst="roundRect">
            <a:avLst>
              <a:gd name="adj" fmla="val 2667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337560" y="960120"/>
            <a:ext cx="2743200" cy="502920"/>
          </a:xfrm>
          <a:prstGeom prst="rect">
            <a:avLst/>
          </a:prstGeom>
          <a:solidFill>
            <a:srgbClr val="3498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29000" y="98755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UCI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Epileptic Seizure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520440" y="1600200"/>
            <a:ext cx="237744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61188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709160" y="1627632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11,500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520440" y="2194560"/>
            <a:ext cx="237744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11880" y="224028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709160" y="2221992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178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520440" y="2788920"/>
            <a:ext cx="237744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611880" y="283464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Seizure Rate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709160" y="2816352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~21.7%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474720" y="342900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balanced dataset. Binary labels collapsed from 5 original classes. Real data via Kaggle; simulation replicates sinusoidal seizure signature.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263640" y="960120"/>
            <a:ext cx="2743200" cy="3749040"/>
          </a:xfrm>
          <a:prstGeom prst="roundRect">
            <a:avLst>
              <a:gd name="adj" fmla="val 2667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263640" y="960120"/>
            <a:ext cx="2743200" cy="502920"/>
          </a:xfrm>
          <a:prstGeom prst="rect">
            <a:avLst/>
          </a:prstGeom>
          <a:solidFill>
            <a:srgbClr val="2ECC7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55080" y="98755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TUH EEG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Seizure Corpus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446520" y="1600200"/>
            <a:ext cx="237744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53796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635240" y="1627632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50,000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446520" y="2194560"/>
            <a:ext cx="237744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537960" y="224028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635240" y="2221992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178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6446520" y="2788920"/>
            <a:ext cx="237744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6537960" y="283464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Seizure Rate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635240" y="2816352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~1%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6400800" y="342900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agreement required — always simulated here. Highest noise, lowest prevalence. Primary stress test for imbalance strategies.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Pipelines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960120"/>
            <a:ext cx="3931920" cy="3749040"/>
          </a:xfrm>
          <a:prstGeom prst="roundRect">
            <a:avLst>
              <a:gd name="adj" fmla="val 1951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051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A — Reduction-First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36576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536192"/>
            <a:ext cx="3840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24128" y="153619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24128" y="1865376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Zero-mean, unit variance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178 features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2514600"/>
            <a:ext cx="36576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2542032"/>
            <a:ext cx="3840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024128" y="254203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Filter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(σ = 1.5)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24128" y="2871216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Per-sample temporal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suppression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48640" y="3520440"/>
            <a:ext cx="36576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94360" y="3547872"/>
            <a:ext cx="3840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024128" y="354787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SelectKBest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(k = 50)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24128" y="3877056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ANOVA F-test selects top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discriminative features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0" y="960120"/>
            <a:ext cx="4160520" cy="3749040"/>
          </a:xfrm>
          <a:prstGeom prst="roundRect">
            <a:avLst>
              <a:gd name="adj" fmla="val 1951"/>
            </a:avLst>
          </a:prstGeom>
          <a:solidFill>
            <a:srgbClr val="EAF4F6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09160" y="105156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B — Extraction-First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709160" y="1508760"/>
            <a:ext cx="38404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754880" y="1536192"/>
            <a:ext cx="3840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184648" y="153619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MinMaxScaler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184648" y="1865376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all features to [0, 1]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ICA compatibility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709160" y="2514600"/>
            <a:ext cx="38404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754880" y="2542032"/>
            <a:ext cx="3840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184648" y="254203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(50 components)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184648" y="2871216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Dimensionality reduction;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preserves max variance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709160" y="3520440"/>
            <a:ext cx="38404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754880" y="3547872"/>
            <a:ext cx="3840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5184648" y="354787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FastICA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 components)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184648" y="3877056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independent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source-like signals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160520" y="2423160"/>
            <a:ext cx="640080" cy="640080"/>
          </a:xfrm>
          <a:prstGeom prst="ellipse">
            <a:avLst/>
          </a:prstGeom>
          <a:solidFill>
            <a:srgbClr val="02809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60520" y="2423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Baseline: Logistic Regression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960120"/>
            <a:ext cx="4114800" cy="1828800"/>
          </a:xfrm>
          <a:prstGeom prst="roundRect">
            <a:avLst>
              <a:gd name="adj" fmla="val 4000"/>
            </a:avLst>
          </a:prstGeom>
          <a:solidFill>
            <a:srgbClr val="EAF4F6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05156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Configuration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14630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Penalty: L2 (Ridge)  |  C = 1.0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94360" y="177393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Solver: lbfgs  |  max_iter = 1000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208483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Random state: 42 (reproducible)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23957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Trained &amp; evaluated per dataset/pipeline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1480" y="2926080"/>
            <a:ext cx="4114800" cy="1737360"/>
          </a:xfrm>
          <a:prstGeom prst="roundRect">
            <a:avLst>
              <a:gd name="adj" fmla="val 4211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301752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Metrics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94360" y="342900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Accuracy: 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554480" y="34290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classification correctness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94360" y="379476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F1: 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554480" y="37947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Unweighted mean F1 — critical for imbalance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94360" y="416052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PR-AUC: 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554480" y="41605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metric: precision-recall area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09160" y="960120"/>
            <a:ext cx="3977640" cy="3703320"/>
          </a:xfrm>
          <a:prstGeom prst="roundRect">
            <a:avLst>
              <a:gd name="adj" fmla="val 1975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0" y="105156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Bias-Variance Scenarios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846320" y="1508760"/>
            <a:ext cx="36576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46320" y="1508760"/>
            <a:ext cx="164592" cy="868680"/>
          </a:xfrm>
          <a:prstGeom prst="roundRect">
            <a:avLst>
              <a:gd name="adj" fmla="val 22222"/>
            </a:avLst>
          </a:prstGeom>
          <a:solidFill>
            <a:srgbClr val="E74C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74920" y="1536192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Underfitting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74920" y="1783080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= 0.001  •  5 features only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074920" y="1984248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bias. Low train &amp; test F1. Model too simple to capture ictal patterns.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846320" y="2514600"/>
            <a:ext cx="36576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46320" y="2514600"/>
            <a:ext cx="164592" cy="868680"/>
          </a:xfrm>
          <a:prstGeom prst="roundRect">
            <a:avLst>
              <a:gd name="adj" fmla="val 22222"/>
            </a:avLst>
          </a:prstGeom>
          <a:solidFill>
            <a:srgbClr val="2ECC7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74920" y="2542032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Fit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74920" y="2788920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= 1.0  •  Full pipeline features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074920" y="2990088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bias-variance. Train ≈ test F1. Good generalisation.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846320" y="3520440"/>
            <a:ext cx="36576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46320" y="3520440"/>
            <a:ext cx="164592" cy="868680"/>
          </a:xfrm>
          <a:prstGeom prst="roundRect">
            <a:avLst>
              <a:gd name="adj" fmla="val 22222"/>
            </a:avLst>
          </a:prstGeom>
          <a:solidFill>
            <a:srgbClr val="9B59B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74920" y="3547872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Overfitting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074920" y="3794760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= 1e6  •  Poly + 50 noise feats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074920" y="3995928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bias, high variance. Large train-test gap. Memorises noise.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Regularisation Study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60120"/>
            <a:ext cx="2697480" cy="3749040"/>
          </a:xfrm>
          <a:prstGeom prst="roundRect">
            <a:avLst>
              <a:gd name="adj" fmla="val 2712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48740" y="1051560"/>
            <a:ext cx="731520" cy="731520"/>
          </a:xfrm>
          <a:prstGeom prst="ellipse">
            <a:avLst/>
          </a:prstGeom>
          <a:solidFill>
            <a:srgbClr val="E74C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48740" y="10515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87452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Lasso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14884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Solver: saga  •  C = 0.1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02920" y="2468880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sparse coefficients by zeroing irrelevant features — effectively performs automatic EEG channel selection.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3547872"/>
            <a:ext cx="2514600" cy="594360"/>
          </a:xfrm>
          <a:prstGeom prst="roundRect">
            <a:avLst>
              <a:gd name="adj" fmla="val 12308"/>
            </a:avLst>
          </a:prstGeom>
          <a:solidFill>
            <a:srgbClr val="FFF5F5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8640" y="3593592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48640" y="3776472"/>
            <a:ext cx="2331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High-dimensional, noisy EEG with many irrelevant channels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291840" y="960120"/>
            <a:ext cx="2697480" cy="3749040"/>
          </a:xfrm>
          <a:prstGeom prst="roundRect">
            <a:avLst>
              <a:gd name="adj" fmla="val 2712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274820" y="1051560"/>
            <a:ext cx="731520" cy="731520"/>
          </a:xfrm>
          <a:prstGeom prst="ellipse">
            <a:avLst/>
          </a:prstGeom>
          <a:solidFill>
            <a:srgbClr val="3498D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74820" y="10515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383280" y="187452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83280" y="214884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Solver: lbfgs  •  C = 0.1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429000" y="2468880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Shrinks all coefficients smoothly — handles correlated features without eliminating them.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383280" y="3547872"/>
            <a:ext cx="2514600" cy="594360"/>
          </a:xfrm>
          <a:prstGeom prst="roundRect">
            <a:avLst>
              <a:gd name="adj" fmla="val 12308"/>
            </a:avLst>
          </a:prstGeom>
          <a:solidFill>
            <a:srgbClr val="F0F7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474720" y="3593592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474720" y="3776472"/>
            <a:ext cx="2331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Correlated channel groups common in scalp EEG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217920" y="960120"/>
            <a:ext cx="2697480" cy="3749040"/>
          </a:xfrm>
          <a:prstGeom prst="roundRect">
            <a:avLst>
              <a:gd name="adj" fmla="val 2712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200900" y="1051560"/>
            <a:ext cx="731520" cy="731520"/>
          </a:xfrm>
          <a:prstGeom prst="ellipse">
            <a:avLst/>
          </a:prstGeom>
          <a:solidFill>
            <a:srgbClr val="9B59B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200900" y="10515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309360" y="187452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L1+L2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309360" y="214884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Solver: saga  •  C = 0.1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355080" y="2468880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L1 sparsity with L2 stability (l1_ratio=0.5). Best of both worlds for redundant but discriminative features.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309360" y="3547872"/>
            <a:ext cx="2514600" cy="594360"/>
          </a:xfrm>
          <a:prstGeom prst="roundRect">
            <a:avLst>
              <a:gd name="adj" fmla="val 12308"/>
            </a:avLst>
          </a:prstGeom>
          <a:solidFill>
            <a:srgbClr val="F8F0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400800" y="3593592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400800" y="3776472"/>
            <a:ext cx="2331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redundant + sparse settings; best average performer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11480" y="480060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Stability tested across 5 random seeds. Sparsity measured by counting |coef| &gt; 1e-6.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Class Imbalance — TUH Dataset (1% Seizure)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960120"/>
            <a:ext cx="8321040" cy="640080"/>
          </a:xfrm>
          <a:prstGeom prst="roundRect">
            <a:avLst>
              <a:gd name="adj" fmla="val 11429"/>
            </a:avLst>
          </a:prstGeom>
          <a:solidFill>
            <a:srgbClr val="EAF4F6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024128"/>
            <a:ext cx="7955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TUH seizure prevalence: 1% (500 seizure vs 49,500 non-seizure samples)  →  Primary stress test for imbalance strategies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1737360"/>
            <a:ext cx="2697480" cy="3108960"/>
          </a:xfrm>
          <a:prstGeom prst="roundRect">
            <a:avLst>
              <a:gd name="adj" fmla="val 2712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737360"/>
            <a:ext cx="2697480" cy="457200"/>
          </a:xfrm>
          <a:prstGeom prst="rect">
            <a:avLst/>
          </a:prstGeom>
          <a:solidFill>
            <a:srgbClr val="64748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755648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1965960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Correction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48640" y="228600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directly on imbalanced data. Model learns to always predict non-seizure.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8640" y="324612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Reg: L2 (C=0.1)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48640" y="349300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Fastest; no data manipulation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48640" y="374904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Effectively ignores seizure class; zero recall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337560" y="1737360"/>
            <a:ext cx="2697480" cy="3108960"/>
          </a:xfrm>
          <a:prstGeom prst="roundRect">
            <a:avLst>
              <a:gd name="adj" fmla="val 2712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337560" y="1737360"/>
            <a:ext cx="2697480" cy="457200"/>
          </a:xfrm>
          <a:prstGeom prst="rect">
            <a:avLst/>
          </a:prstGeom>
          <a:solidFill>
            <a:srgbClr val="E74C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29000" y="1755648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 + L2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429000" y="1965960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0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Oversampling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474720" y="228600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synthetic seizure samples via k-nearest neighbours interpolation until classes are balanced.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474720" y="324612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Reg: L2 (C=0.1)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474720" y="349300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Higher seizure recall; better PR-AUC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474720" y="374904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More false positives; shifts decision boundary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263640" y="1737360"/>
            <a:ext cx="2697480" cy="3108960"/>
          </a:xfrm>
          <a:prstGeom prst="roundRect">
            <a:avLst>
              <a:gd name="adj" fmla="val 2712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263640" y="1737360"/>
            <a:ext cx="269748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55080" y="1755648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Weight + L1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355080" y="1965960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0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Re-weighting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400800" y="228600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Amplifies the minority-class loss penalty during training without altering the training distribution.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400800" y="324612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Reg: L1 (C=0.1)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400800" y="349300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Fewer false alarms; safer for clinical use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400800" y="374904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Lower recall vs SMOTE in research settings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11480" y="4919472"/>
            <a:ext cx="8321040" cy="201168"/>
          </a:xfrm>
          <a:prstGeom prst="roundRect">
            <a:avLst>
              <a:gd name="adj" fmla="val 36364"/>
            </a:avLst>
          </a:prstGeom>
          <a:solidFill>
            <a:srgbClr val="EAF4F6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02920" y="4937760"/>
            <a:ext cx="8138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recommendation: Class Weighting + L1 (fewer alarms)  •  Research recommendation: SMOTE + ElasticNet (maximum detection)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960120"/>
            <a:ext cx="4160520" cy="1920240"/>
          </a:xfrm>
          <a:prstGeom prst="roundRect">
            <a:avLst>
              <a:gd name="adj" fmla="val 3810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21208" y="1069848"/>
            <a:ext cx="457200" cy="457200"/>
          </a:xfrm>
          <a:prstGeom prst="ellipse">
            <a:avLst/>
          </a:prstGeom>
          <a:solidFill>
            <a:srgbClr val="E74C3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1069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69848" y="109728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Order Matters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48640" y="1581912"/>
            <a:ext cx="3886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A (StandardScaler → Gaussian → SelectKBest) outperforms Pipeline B in most EEG settings. Denoising before feature selection prevents noisy features from artificially inflating F-scores. FastICA can destroy discriminative signal when seizure patterns have low variance across independent components.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800600" y="960120"/>
            <a:ext cx="4160520" cy="1920240"/>
          </a:xfrm>
          <a:prstGeom prst="roundRect">
            <a:avLst>
              <a:gd name="adj" fmla="val 3810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910328" y="1069848"/>
            <a:ext cx="457200" cy="457200"/>
          </a:xfrm>
          <a:prstGeom prst="ellipse">
            <a:avLst/>
          </a:prstGeom>
          <a:solidFill>
            <a:srgbClr val="02809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10328" y="1069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58968" y="109728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ElasticNet Generalises Best on Average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937760" y="1581912"/>
            <a:ext cx="3886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ElasticNet achieves the highest average macro-F1 across datasets by combining L1 sparsity (eliminating irrelevant channels) with L2 stability (handling correlated channels). Tuning l1_ratio is critical — default 0.5 is a good starting point.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11480" y="3017520"/>
            <a:ext cx="4160520" cy="1920240"/>
          </a:xfrm>
          <a:prstGeom prst="roundRect">
            <a:avLst>
              <a:gd name="adj" fmla="val 3810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21208" y="3127248"/>
            <a:ext cx="457200" cy="457200"/>
          </a:xfrm>
          <a:prstGeom prst="ellipse">
            <a:avLst/>
          </a:prstGeom>
          <a:solidFill>
            <a:srgbClr val="3498D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1208" y="3127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69848" y="315468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ElasticNet Doesn't Always Win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48640" y="3639312"/>
            <a:ext cx="3886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TUH (1% seizure, high noise), L2 alone outperforms ElasticNet because smooth shrinkage avoids over-sparsification of rare ictal patterns. After Pipeline B's ICA decorrelation, L1 can also outperform ElasticNet since correlated features no longer exist.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800600" y="3017520"/>
            <a:ext cx="4160520" cy="1920240"/>
          </a:xfrm>
          <a:prstGeom prst="roundRect">
            <a:avLst>
              <a:gd name="adj" fmla="val 3810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910328" y="3127248"/>
            <a:ext cx="457200" cy="457200"/>
          </a:xfrm>
          <a:prstGeom prst="ellipse">
            <a:avLst/>
          </a:prstGeom>
          <a:solidFill>
            <a:srgbClr val="9B59B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10328" y="3127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58968" y="315468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Imbalance Handling: A Precision-Recall Tradeoff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937760" y="3639312"/>
            <a:ext cx="3886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 + L2 increases seizure recall but inflates false positives by shifting the decision boundary into non-seizure territory. Class Weighting + L1 is more conservative, yielding fewer false alarms. Choose based on deployment context: clinical or research.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Next Steps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804672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1097280"/>
            <a:ext cx="3931920" cy="3657600"/>
          </a:xfrm>
          <a:prstGeom prst="roundRect">
            <a:avLst>
              <a:gd name="adj" fmla="val 2000"/>
            </a:avLst>
          </a:prstGeom>
          <a:solidFill>
            <a:srgbClr val="1B2F5A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23444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" y="16916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Preprocessing order significantly affects generalisation — denoise first (Pipeline A) wins.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94360" y="2304288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ElasticNet generalises best on average by balancing sparsity and stability.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94360" y="2916936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ElasticNet does not always win — context matters (noise level, decorrelation).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94360" y="3529584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Imbalance handling creates a precision-recall tradeoff tied to deployment context.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4142232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All code is reproducible — simulation fallbacks preserve statistical properties when real data unavailable.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0" y="1097280"/>
            <a:ext cx="4160520" cy="3657600"/>
          </a:xfrm>
          <a:prstGeom prst="roundRect">
            <a:avLst>
              <a:gd name="adj" fmla="val 2000"/>
            </a:avLst>
          </a:prstGeom>
          <a:solidFill>
            <a:srgbClr val="1B2F5A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54880" y="1234440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709160" y="1664208"/>
            <a:ext cx="3886200" cy="530352"/>
          </a:xfrm>
          <a:prstGeom prst="roundRect">
            <a:avLst>
              <a:gd name="adj" fmla="val 13793"/>
            </a:avLst>
          </a:prstGeom>
          <a:solidFill>
            <a:srgbClr val="243A6B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00600" y="1709928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simulations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00600" y="1901952"/>
            <a:ext cx="3703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real CHB-MIT and UCI data for final benchmark results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709160" y="2276856"/>
            <a:ext cx="3886200" cy="530352"/>
          </a:xfrm>
          <a:prstGeom prst="roundRect">
            <a:avLst>
              <a:gd name="adj" fmla="val 13793"/>
            </a:avLst>
          </a:prstGeom>
          <a:solidFill>
            <a:srgbClr val="243A6B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00600" y="2322576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classifiers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00600" y="2514600"/>
            <a:ext cx="3703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XGBoost, Random Forest, and 1D-CNN baselines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709160" y="2889504"/>
            <a:ext cx="3886200" cy="530352"/>
          </a:xfrm>
          <a:prstGeom prst="roundRect">
            <a:avLst>
              <a:gd name="adj" fmla="val 13793"/>
            </a:avLst>
          </a:prstGeom>
          <a:solidFill>
            <a:srgbClr val="243A6B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00600" y="2935224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Patient-independent CV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00600" y="3127248"/>
            <a:ext cx="3703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Cross-subject StratifiedKFold to test true generalisation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709160" y="3502152"/>
            <a:ext cx="3886200" cy="530352"/>
          </a:xfrm>
          <a:prstGeom prst="roundRect">
            <a:avLst>
              <a:gd name="adj" fmla="val 13793"/>
            </a:avLst>
          </a:prstGeom>
          <a:solidFill>
            <a:srgbClr val="243A6B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800600" y="3547872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windows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00600" y="3739896"/>
            <a:ext cx="3703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Sliding-window features for online real-time seizure prediction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709160" y="4114800"/>
            <a:ext cx="3886200" cy="530352"/>
          </a:xfrm>
          <a:prstGeom prst="roundRect">
            <a:avLst>
              <a:gd name="adj" fmla="val 13793"/>
            </a:avLst>
          </a:prstGeom>
          <a:solidFill>
            <a:srgbClr val="243A6B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800600" y="4160520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optimisation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00600" y="4352544"/>
            <a:ext cx="3703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 decision threshold to clinical specificity targets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11480" y="484632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 Seizure Prediction — Generalisation Study  •  Untitled0.ipynb  •  June 2026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EEG Seizure Prediction — Generalisation Study</dc:title>
  <dc:subject>PptxGenJS Presentation</dc:subject>
  <dc:creator>PptxGenJS</dc:creator>
  <cp:lastModifiedBy>PptxGenJS</cp:lastModifiedBy>
  <cp:revision>1</cp:revision>
  <dcterms:created xsi:type="dcterms:W3CDTF">2026-06-14T07:15:48Z</dcterms:created>
  <dcterms:modified xsi:type="dcterms:W3CDTF">2026-06-14T07:15:48Z</dcterms:modified>
</cp:coreProperties>
</file>